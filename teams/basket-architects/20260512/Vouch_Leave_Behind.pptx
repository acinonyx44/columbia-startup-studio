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5524500"/>
            <a:ext cx="6667500" cy="6667500"/>
          </a:xfrm>
          <a:prstGeom prst="ellipse">
            <a:avLst/>
          </a:prstGeom>
          <a:solidFill>
            <a:srgbClr val="C2653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478000" y="-1524000"/>
            <a:ext cx="5334000" cy="5334000"/>
          </a:xfrm>
          <a:prstGeom prst="ellipse">
            <a:avLst/>
          </a:prstGeom>
          <a:solidFill>
            <a:srgbClr val="7A8C7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105025"/>
            <a:ext cx="157162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3300" b="1" spc="-33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143000" y="3162300"/>
            <a:ext cx="14888886" cy="415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0" spc="-15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social life, </a:t>
            </a:r>
            <a:pPr algn="l" indent="0" marL="0">
              <a:lnSpc>
                <a:spcPct val="108000"/>
              </a:lnSpc>
              <a:buNone/>
            </a:pPr>
            <a:r>
              <a:rPr lang="en-US" sz="15000" i="1" spc="-15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ranked.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143000" y="7962900"/>
            <a:ext cx="417432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Investor Leave-Behind · April 2026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24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4716125" cy="2124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spc="-48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 is the </a:t>
            </a:r>
            <a:pPr algn="l" indent="0" marL="0">
              <a:lnSpc>
                <a:spcPct val="115000"/>
              </a:lnSpc>
              <a:buNone/>
            </a:pPr>
            <a:r>
              <a:rPr lang="en-US" sz="4800" i="1" spc="-48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friend-first discovery layer </a:t>
            </a:r>
            <a:pPr algn="l" indent="0" marL="0">
              <a:lnSpc>
                <a:spcPct val="115000"/>
              </a:lnSpc>
              <a:buNone/>
            </a:pPr>
            <a:r>
              <a:rPr lang="en-US" sz="4800" spc="-48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everywhere you go — built on one-tap ratings instead of reviews nobody writes.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4191000"/>
            <a:ext cx="7848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05325"/>
            <a:ext cx="78486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consumer app where you rate every place 0–10 in two seconds. Your history is searchable; your friends' ratings shape what you discover next.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0" y="4191000"/>
            <a:ext cx="7848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0" y="4505325"/>
            <a:ext cx="78486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Yelp &amp; Google reviews have collapsed in trust. Beli proved one-tap rating works for food. Nobody owns the broader graph.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5591175"/>
            <a:ext cx="7848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5905500"/>
            <a:ext cx="78486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2.4K active raters · 41K ratings · 64% W4 retention in NYC beta after 3 months — no paid acquisition.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5591175"/>
            <a:ext cx="7848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0" y="5905500"/>
            <a:ext cx="78486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$1.5M seed for 18-month runway to 50K MAU across 4 cities and Series A metrics.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4" name="Text 12"/>
          <p:cNvSpPr/>
          <p:nvPr/>
        </p:nvSpPr>
        <p:spPr>
          <a:xfrm>
            <a:off x="2576513" y="9505950"/>
            <a:ext cx="8896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Summary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24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47938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PITCH IN ONE LINE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3128963"/>
            <a:ext cx="14716125" cy="3352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100" spc="-8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Rate every place you go. Get recs from friends </a:t>
            </a:r>
            <a:pPr algn="l" indent="0" marL="0">
              <a:lnSpc>
                <a:spcPct val="108000"/>
              </a:lnSpc>
              <a:buNone/>
            </a:pPr>
            <a:r>
              <a:rPr lang="en-US" sz="8100" i="1" spc="-81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 actually trust.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6938963"/>
            <a:ext cx="1079182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living record of your taste — searchable, rankable, shareable. Built on one-tap ratings instead of reviews nobody writes.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7" name="Text 5"/>
          <p:cNvSpPr/>
          <p:nvPr/>
        </p:nvSpPr>
        <p:spPr>
          <a:xfrm>
            <a:off x="2576513" y="9505950"/>
            <a:ext cx="14564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Demo Day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24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3735050" cy="298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spc="-72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You've been to hundreds of places. You remember </a:t>
            </a:r>
            <a:pPr algn="l" indent="0" marL="0">
              <a:lnSpc>
                <a:spcPct val="108000"/>
              </a:lnSpc>
              <a:buNone/>
            </a:pPr>
            <a:r>
              <a:rPr lang="en-US" sz="7200" i="1" spc="-72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twenty.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6610350"/>
            <a:ext cx="5130701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33525" y="7000875"/>
            <a:ext cx="4480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NOTES.APP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3525" y="7353300"/>
            <a:ext cx="448014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graveyard of half-typed restaurant names.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78501" y="6610350"/>
            <a:ext cx="5130850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69026" y="7000875"/>
            <a:ext cx="44802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9026" y="7353300"/>
            <a:ext cx="4480294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wall of pins. No context. No ranking.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14150" y="6610350"/>
            <a:ext cx="5130701" cy="1952625"/>
          </a:xfrm>
          <a:prstGeom prst="roundRect">
            <a:avLst>
              <a:gd name="adj" fmla="val 9756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404675" y="7000875"/>
            <a:ext cx="44801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CHAT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04675" y="7353300"/>
            <a:ext cx="448014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"Where should we eat?" Mind goes blank.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9096375"/>
            <a:ext cx="28575" cy="428625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0175" y="9096375"/>
            <a:ext cx="162248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taste deserves better than this.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7" name="Text 15"/>
          <p:cNvSpPr/>
          <p:nvPr/>
        </p:nvSpPr>
        <p:spPr>
          <a:xfrm>
            <a:off x="2576513" y="9505950"/>
            <a:ext cx="7911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1905000"/>
            <a:ext cx="6667500" cy="6667500"/>
          </a:xfrm>
          <a:prstGeom prst="ellipse">
            <a:avLst/>
          </a:prstGeom>
          <a:solidFill>
            <a:srgbClr val="7A8C7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INSIGHT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95425"/>
            <a:ext cx="1569720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Reviews are 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writing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problem. Ratings are 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memory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143000" y="4067175"/>
            <a:ext cx="7734300" cy="2009775"/>
          </a:xfrm>
          <a:prstGeom prst="roundRect">
            <a:avLst>
              <a:gd name="adj" fmla="val 94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457700"/>
            <a:ext cx="71618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Reviews failed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33525" y="5038725"/>
            <a:ext cx="716184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Asking strangers to write paragraphs is friction. The result: 2% of customers write 90% of reviews — almost all extremes.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410700" y="4067175"/>
            <a:ext cx="7734300" cy="2009775"/>
          </a:xfrm>
          <a:prstGeom prst="roundRect">
            <a:avLst>
              <a:gd name="adj" fmla="val 9479"/>
            </a:avLst>
          </a:prstGeom>
          <a:solidFill>
            <a:srgbClr val="C2653A">
              <a:alpha val="12000"/>
            </a:srgbClr>
          </a:solidFill>
          <a:ln w="9525">
            <a:solidFill>
              <a:srgbClr val="C2653A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01225" y="4457700"/>
            <a:ext cx="71618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Ratings work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01225" y="5038725"/>
            <a:ext cx="716184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single tap, in the moment, taken from anyone — not just the loudest voices. Density grows linearly with usage instead of a power-law tail.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43000" y="6610350"/>
            <a:ext cx="28575" cy="381000"/>
          </a:xfrm>
          <a:prstGeom prst="rect">
            <a:avLst/>
          </a:prstGeom>
          <a:solidFill>
            <a:srgbClr val="E8A882"/>
          </a:solidFill>
          <a:ln/>
        </p:spPr>
      </p:sp>
      <p:sp>
        <p:nvSpPr>
          <p:cNvPr id="12" name="Text 10"/>
          <p:cNvSpPr/>
          <p:nvPr/>
        </p:nvSpPr>
        <p:spPr>
          <a:xfrm>
            <a:off x="1400175" y="6610350"/>
            <a:ext cx="14723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Beli proved this for restaurants. We're applying it to </a:t>
            </a:r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everywhere </a:t>
            </a:r>
            <a:pPr algn="l"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— bars, hikes, shows, classes, trips.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76513" y="9505950"/>
            <a:ext cx="63698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Insight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24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78000" y="-1428750"/>
            <a:ext cx="5715000" cy="5715000"/>
          </a:xfrm>
          <a:prstGeom prst="ellipse">
            <a:avLst/>
          </a:prstGeom>
          <a:solidFill>
            <a:srgbClr val="C2653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666875"/>
            <a:ext cx="78486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2209800"/>
            <a:ext cx="7848600" cy="2495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0" spc="-90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tap. </a:t>
            </a:r>
            <a:pPr algn="l" indent="0" marL="0">
              <a:lnSpc>
                <a:spcPct val="108000"/>
              </a:lnSpc>
              <a:buNone/>
            </a:pPr>
            <a:r>
              <a:rPr lang="en-US" sz="9000" i="1" spc="-90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That's it.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143000" y="5048250"/>
            <a:ext cx="706374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review. No paragraph. No photo required. After any experience, rate it 0–10. Vouch builds a living record of your taste over time.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1125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8/10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381125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Thai place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81125" y="8267700"/>
            <a:ext cx="854273" cy="266700"/>
          </a:xfrm>
          <a:prstGeom prst="roundRect">
            <a:avLst>
              <a:gd name="adj" fmla="val 50000"/>
            </a:avLst>
          </a:prstGeom>
          <a:solidFill>
            <a:srgbClr val="7A8C72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76375" y="8324850"/>
            <a:ext cx="7399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RELIABLE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746450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4575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4/10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3984575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Tourist trap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984575" y="8267700"/>
            <a:ext cx="639068" cy="266700"/>
          </a:xfrm>
          <a:prstGeom prst="roundRect">
            <a:avLst>
              <a:gd name="adj" fmla="val 50000"/>
            </a:avLst>
          </a:prstGeom>
          <a:solidFill>
            <a:srgbClr val="E8A882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79825" y="8324850"/>
            <a:ext cx="5247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AVOID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6349901" y="7067550"/>
            <a:ext cx="2412950" cy="1743075"/>
          </a:xfrm>
          <a:prstGeom prst="roundRect">
            <a:avLst>
              <a:gd name="adj" fmla="val 87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8026" y="7343775"/>
            <a:ext cx="2012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10/10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6588026" y="7934325"/>
            <a:ext cx="20129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speakeasy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8026" y="8267700"/>
            <a:ext cx="1313259" cy="266700"/>
          </a:xfrm>
          <a:prstGeom prst="roundRect">
            <a:avLst>
              <a:gd name="adj" fmla="val 50000"/>
            </a:avLst>
          </a:prstGeom>
          <a:solidFill>
            <a:srgbClr val="7A8C72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683276" y="8324850"/>
            <a:ext cx="11989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TELL EVERYONE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 rot="119998">
            <a:off x="11334750" y="1143000"/>
            <a:ext cx="4000500" cy="8191500"/>
          </a:xfrm>
          <a:prstGeom prst="roundRect">
            <a:avLst>
              <a:gd name="adj" fmla="val 13333"/>
            </a:avLst>
          </a:prstGeom>
          <a:solidFill>
            <a:srgbClr val="1A1714"/>
          </a:solidFill>
          <a:ln/>
          <a:effectLst>
            <a:outerShdw sx="100000" sy="100000" kx="0" ky="0" algn="bl" rotWithShape="0" blurRad="762000" dist="285750" dir="5400000">
              <a:srgbClr val="1A1714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651522" y="1269547"/>
            <a:ext cx="1630231" cy="39920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50655" y="1233313"/>
            <a:ext cx="3968690" cy="8010874"/>
          </a:xfrm>
          <a:prstGeom prst="roundRect">
            <a:avLst>
              <a:gd name="adj" fmla="val 10080"/>
            </a:avLst>
          </a:prstGeom>
          <a:solidFill>
            <a:srgbClr val="FEFCF9"/>
          </a:solidFill>
          <a:ln/>
        </p:spPr>
      </p:sp>
      <p:sp>
        <p:nvSpPr>
          <p:cNvPr id="24" name="Text 22"/>
          <p:cNvSpPr/>
          <p:nvPr/>
        </p:nvSpPr>
        <p:spPr>
          <a:xfrm>
            <a:off x="11776755" y="1812443"/>
            <a:ext cx="3342867" cy="40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experiences, ranked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68821" y="2126577"/>
            <a:ext cx="3339786" cy="322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47 experiences · 12 categories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762761" y="2467938"/>
            <a:ext cx="795971" cy="332039"/>
          </a:xfrm>
          <a:prstGeom prst="roundRect">
            <a:avLst>
              <a:gd name="adj" fmla="val 22949"/>
            </a:avLst>
          </a:prstGeom>
          <a:solidFill>
            <a:srgbClr val="1A1714"/>
          </a:solidFill>
          <a:ln/>
        </p:spPr>
      </p:sp>
      <p:sp>
        <p:nvSpPr>
          <p:cNvPr id="27" name="Text 25"/>
          <p:cNvSpPr/>
          <p:nvPr/>
        </p:nvSpPr>
        <p:spPr>
          <a:xfrm>
            <a:off x="11800861" y="2544138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643311" y="2573557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3485759" y="2602976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Drinks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4328208" y="2632395"/>
            <a:ext cx="719771" cy="217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Activities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11733508" y="2905821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1871431" y="3043744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CE8D4"/>
          </a:solidFill>
          <a:ln/>
        </p:spPr>
      </p:sp>
      <p:sp>
        <p:nvSpPr>
          <p:cNvPr id="33" name="Text 31"/>
          <p:cNvSpPr/>
          <p:nvPr/>
        </p:nvSpPr>
        <p:spPr>
          <a:xfrm>
            <a:off x="11833331" y="3043744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🍜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2449730" y="3106525"/>
            <a:ext cx="1308892" cy="271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Siam Garden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44079" y="3315948"/>
            <a:ext cx="1307230" cy="2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Thai · East Village · Oct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770639" y="3230555"/>
            <a:ext cx="235434" cy="3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1705586" y="3705434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38" name="Shape 36"/>
          <p:cNvSpPr/>
          <p:nvPr/>
        </p:nvSpPr>
        <p:spPr>
          <a:xfrm>
            <a:off x="11843508" y="3843356"/>
            <a:ext cx="453174" cy="453174"/>
          </a:xfrm>
          <a:prstGeom prst="roundRect">
            <a:avLst>
              <a:gd name="adj" fmla="val 21018"/>
            </a:avLst>
          </a:prstGeom>
          <a:solidFill>
            <a:srgbClr val="DFE8F5"/>
          </a:solidFill>
          <a:ln/>
        </p:spPr>
      </p:sp>
      <p:sp>
        <p:nvSpPr>
          <p:cNvPr id="39" name="Text 37"/>
          <p:cNvSpPr/>
          <p:nvPr/>
        </p:nvSpPr>
        <p:spPr>
          <a:xfrm>
            <a:off x="11805408" y="3843356"/>
            <a:ext cx="529374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🍸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421807" y="3906138"/>
            <a:ext cx="1707656" cy="2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Violet Hour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416156" y="4115560"/>
            <a:ext cx="1705994" cy="23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Speakeasy · Wicker Park · Sep 28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4614504" y="4025690"/>
            <a:ext cx="363646" cy="3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677663" y="4505046"/>
            <a:ext cx="3337279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815585" y="4642969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4D9D4"/>
          </a:solidFill>
          <a:ln/>
        </p:spPr>
      </p:sp>
      <p:sp>
        <p:nvSpPr>
          <p:cNvPr id="45" name="Text 43"/>
          <p:cNvSpPr/>
          <p:nvPr/>
        </p:nvSpPr>
        <p:spPr>
          <a:xfrm>
            <a:off x="11777485" y="4642969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📸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393884" y="4705750"/>
            <a:ext cx="1476369" cy="277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Times Square Wax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88232" y="4915173"/>
            <a:ext cx="1474708" cy="229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Attraction · Midtown · Sep 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4702448" y="4829349"/>
            <a:ext cx="247780" cy="310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1649739" y="5304659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87662" y="5442582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DCE7DE"/>
          </a:solidFill>
          <a:ln/>
        </p:spPr>
      </p:sp>
      <p:sp>
        <p:nvSpPr>
          <p:cNvPr id="51" name="Text 49"/>
          <p:cNvSpPr/>
          <p:nvPr/>
        </p:nvSpPr>
        <p:spPr>
          <a:xfrm>
            <a:off x="11749562" y="5442582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🥾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2365960" y="5505363"/>
            <a:ext cx="1414346" cy="274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Breakneck Ridge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360309" y="5714785"/>
            <a:ext cx="1412685" cy="227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Hike · Hudson Valley · Sep 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4684043" y="5629294"/>
            <a:ext cx="238261" cy="309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11621816" y="6104272"/>
            <a:ext cx="3337280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56" name="Shape 54"/>
          <p:cNvSpPr/>
          <p:nvPr/>
        </p:nvSpPr>
        <p:spPr>
          <a:xfrm>
            <a:off x="11759739" y="6242194"/>
            <a:ext cx="453174" cy="453175"/>
          </a:xfrm>
          <a:prstGeom prst="roundRect">
            <a:avLst>
              <a:gd name="adj" fmla="val 21018"/>
            </a:avLst>
          </a:prstGeom>
          <a:solidFill>
            <a:srgbClr val="E4D9EC"/>
          </a:solidFill>
          <a:ln/>
        </p:spPr>
      </p:sp>
      <p:sp>
        <p:nvSpPr>
          <p:cNvPr id="57" name="Text 55"/>
          <p:cNvSpPr/>
          <p:nvPr/>
        </p:nvSpPr>
        <p:spPr>
          <a:xfrm>
            <a:off x="11721639" y="6242194"/>
            <a:ext cx="529374" cy="491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🎭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2338038" y="6304976"/>
            <a:ext cx="1248653" cy="269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Sleep No More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2332387" y="6514398"/>
            <a:ext cx="1246990" cy="221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Show · Chelsea · Aug 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4668317" y="6429332"/>
            <a:ext cx="226064" cy="30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11593893" y="6903884"/>
            <a:ext cx="3337279" cy="820102"/>
          </a:xfrm>
          <a:prstGeom prst="roundRect">
            <a:avLst>
              <a:gd name="adj" fmla="val 16260"/>
            </a:avLst>
          </a:prstGeom>
          <a:solidFill>
            <a:srgbClr val="FAF7F2"/>
          </a:solidFill>
          <a:ln/>
        </p:spPr>
      </p:sp>
      <p:sp>
        <p:nvSpPr>
          <p:cNvPr id="62" name="Shape 60"/>
          <p:cNvSpPr/>
          <p:nvPr/>
        </p:nvSpPr>
        <p:spPr>
          <a:xfrm>
            <a:off x="11731815" y="7041807"/>
            <a:ext cx="453175" cy="453174"/>
          </a:xfrm>
          <a:prstGeom prst="roundRect">
            <a:avLst>
              <a:gd name="adj" fmla="val 21018"/>
            </a:avLst>
          </a:prstGeom>
          <a:solidFill>
            <a:srgbClr val="FCE8D4"/>
          </a:solidFill>
          <a:ln/>
        </p:spPr>
      </p:sp>
      <p:sp>
        <p:nvSpPr>
          <p:cNvPr id="63" name="Text 61"/>
          <p:cNvSpPr/>
          <p:nvPr/>
        </p:nvSpPr>
        <p:spPr>
          <a:xfrm>
            <a:off x="11693715" y="7041807"/>
            <a:ext cx="529375" cy="491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🍕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2310115" y="7104588"/>
            <a:ext cx="1457628" cy="2764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Lucali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2304463" y="7314011"/>
            <a:ext cx="1455967" cy="228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Pizza · Carroll Gdns · Aug 22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4628198" y="7228519"/>
            <a:ext cx="238261" cy="309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576513" y="9505950"/>
            <a:ext cx="7533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Solution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24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Three steps. Two seconds each.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716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5716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5716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Tap a number. One to ten. No review required.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913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199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0199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Build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0199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rating compounds into a clear record of what you love.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39600" y="4067175"/>
            <a:ext cx="5105400" cy="3495675"/>
          </a:xfrm>
          <a:prstGeom prst="roundRect">
            <a:avLst>
              <a:gd name="adj" fmla="val 545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468225" y="4610100"/>
            <a:ext cx="437559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D6CFC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2468225" y="5657850"/>
            <a:ext cx="43755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Discover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68225" y="6257925"/>
            <a:ext cx="437559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See what's highly rated by people you trust. No strangers. No ads.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8" name="Text 16"/>
          <p:cNvSpPr/>
          <p:nvPr/>
        </p:nvSpPr>
        <p:spPr>
          <a:xfrm>
            <a:off x="2576513" y="9505950"/>
            <a:ext cx="74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24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BEYOND THE RATING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rating is the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hook. </a:t>
            </a:r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graph is the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moat.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819525"/>
            <a:ext cx="3800475" cy="2314575"/>
          </a:xfrm>
          <a:prstGeom prst="roundRect">
            <a:avLst>
              <a:gd name="adj" fmla="val 823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9225" y="4171950"/>
            <a:ext cx="3345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9225" y="4457700"/>
            <a:ext cx="33454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24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Score + label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9225" y="4895850"/>
            <a:ext cx="334546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Numeric 0–10 paired with a five-tier qualitative label (AVOID → TELL EVERYONE).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0175" y="3819525"/>
            <a:ext cx="3800475" cy="2314575"/>
          </a:xfrm>
          <a:prstGeom prst="roundRect">
            <a:avLst>
              <a:gd name="adj" fmla="val 823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4171950"/>
            <a:ext cx="3345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0" y="4457700"/>
            <a:ext cx="33454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24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Optional context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4895850"/>
            <a:ext cx="334546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"Hidden gem", "Bring cash", "Worth the hype" — fast taps that compound into search filters.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77350" y="3819525"/>
            <a:ext cx="3800475" cy="2314575"/>
          </a:xfrm>
          <a:prstGeom prst="roundRect">
            <a:avLst>
              <a:gd name="adj" fmla="val 823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53575" y="4171950"/>
            <a:ext cx="3345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53575" y="4457700"/>
            <a:ext cx="33454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24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Taste-match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53575" y="4895850"/>
            <a:ext cx="33454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Per-friend overlap score. The more you both rate, the sharper the match.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344525" y="3819525"/>
            <a:ext cx="3800475" cy="2314575"/>
          </a:xfrm>
          <a:prstGeom prst="roundRect">
            <a:avLst>
              <a:gd name="adj" fmla="val 8230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620750" y="4171950"/>
            <a:ext cx="33454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620750" y="4457700"/>
            <a:ext cx="33454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24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Friend-weighted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620750" y="4895850"/>
            <a:ext cx="334546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 and feed prioritize ratings from friends weighted by taste-match — not strangers.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43000" y="866775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F3EDE4"/>
          </a:solidFill>
          <a:ln/>
        </p:spPr>
      </p:sp>
      <p:sp>
        <p:nvSpPr>
          <p:cNvPr id="21" name="Text 19"/>
          <p:cNvSpPr/>
          <p:nvPr/>
        </p:nvSpPr>
        <p:spPr>
          <a:xfrm>
            <a:off x="1485900" y="8996363"/>
            <a:ext cx="143232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HOOK → HABIT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722" y="8934450"/>
            <a:ext cx="1046209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user rates ~7 places in their first session (back-rating restaurants from memory). Habit forms by week 2.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5" name="Text 23"/>
          <p:cNvSpPr/>
          <p:nvPr/>
        </p:nvSpPr>
        <p:spPr>
          <a:xfrm>
            <a:off x="2576513" y="9505950"/>
            <a:ext cx="7441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24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76363"/>
            <a:ext cx="82223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NETWORK EFFECT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919288"/>
            <a:ext cx="8222328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Your friends are rating </a:t>
            </a:r>
            <a:pPr algn="l" indent="0" marL="0">
              <a:lnSpc>
                <a:spcPct val="108000"/>
              </a:lnSpc>
              <a:buNone/>
            </a:pPr>
            <a:r>
              <a:rPr lang="en-US" sz="6900" i="1" spc="-69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too.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4148137"/>
            <a:ext cx="765238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ratings shape what you discover — not algorithms guessing from strangers, but the people you actually trust.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1674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6434138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Dive bar finder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700" y="6796088"/>
            <a:ext cx="34636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top-rated spots in your neighborhood.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29671" y="61674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9" name="Text 7"/>
          <p:cNvSpPr/>
          <p:nvPr/>
        </p:nvSpPr>
        <p:spPr>
          <a:xfrm>
            <a:off x="5496371" y="6434138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Restaurant expert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96371" y="6796088"/>
            <a:ext cx="346365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9s and 10s when you need somewhere new.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77295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F3EDE4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7996237"/>
            <a:ext cx="34636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New-city explorer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09700" y="8358188"/>
            <a:ext cx="34636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discoveries become yours.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29671" y="7729538"/>
            <a:ext cx="3896171" cy="1371600"/>
          </a:xfrm>
          <a:prstGeom prst="roundRect">
            <a:avLst>
              <a:gd name="adj" fmla="val 9722"/>
            </a:avLst>
          </a:prstGeom>
          <a:solidFill>
            <a:srgbClr val="E8EDE5"/>
          </a:solidFill>
          <a:ln w="9525">
            <a:solidFill>
              <a:srgbClr val="7A8C72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5896" y="8005763"/>
            <a:ext cx="3444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solo on day one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505896" y="8348663"/>
            <a:ext cx="344403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29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history is useful before a single friend joins.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173396" y="1905000"/>
            <a:ext cx="2686050" cy="1628775"/>
          </a:xfrm>
          <a:prstGeom prst="roundRect">
            <a:avLst>
              <a:gd name="adj" fmla="val 11696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73421" y="2143125"/>
            <a:ext cx="419100" cy="419100"/>
          </a:xfrm>
          <a:prstGeom prst="ellipse">
            <a:avLst/>
          </a:prstGeom>
          <a:solidFill>
            <a:srgbClr val="E8A882"/>
          </a:solidFill>
          <a:ln/>
        </p:spPr>
      </p:sp>
      <p:sp>
        <p:nvSpPr>
          <p:cNvPr id="19" name="Text 17"/>
          <p:cNvSpPr/>
          <p:nvPr/>
        </p:nvSpPr>
        <p:spPr>
          <a:xfrm>
            <a:off x="12335321" y="21431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906821" y="2185988"/>
            <a:ext cx="7895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Priya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06821" y="2376488"/>
            <a:ext cx="7895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rated just 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73421" y="2676525"/>
            <a:ext cx="236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Café Integral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73421" y="3052763"/>
            <a:ext cx="9868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Coffee · near you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4506575" y="2962275"/>
            <a:ext cx="2290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 rot="-180000">
            <a:off x="10078343" y="4667250"/>
            <a:ext cx="2457450" cy="1485900"/>
          </a:xfrm>
          <a:prstGeom prst="roundRect">
            <a:avLst>
              <a:gd name="adj" fmla="val 12821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33336" y="4921938"/>
            <a:ext cx="400419" cy="400418"/>
          </a:xfrm>
          <a:prstGeom prst="ellipse">
            <a:avLst/>
          </a:prstGeom>
          <a:solidFill>
            <a:srgbClr val="7A8C7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236" y="4921938"/>
            <a:ext cx="476619" cy="438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33191" y="4991288"/>
            <a:ext cx="553987" cy="24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Jordan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0258261" y="5307805"/>
            <a:ext cx="2179297" cy="347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Lucali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0276208" y="5746173"/>
            <a:ext cx="345702" cy="19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Pizza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106189" y="5564628"/>
            <a:ext cx="350811" cy="365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 rot="180000">
            <a:off x="14592300" y="5143500"/>
            <a:ext cx="2457450" cy="1485900"/>
          </a:xfrm>
          <a:prstGeom prst="roundRect">
            <a:avLst>
              <a:gd name="adj" fmla="val 12821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  <a:effectLst>
            <a:outerShdw sx="100000" sy="100000" kx="0" ky="0" algn="bl" rotWithShape="0" blurRad="571500" dist="190500" dir="5400000">
              <a:srgbClr val="1A1714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782188" y="5308458"/>
            <a:ext cx="400417" cy="400418"/>
          </a:xfrm>
          <a:prstGeom prst="ellipse">
            <a:avLst/>
          </a:prstGeom>
          <a:solidFill>
            <a:srgbClr val="C2653A"/>
          </a:solidFill>
          <a:ln/>
        </p:spPr>
      </p:sp>
      <p:sp>
        <p:nvSpPr>
          <p:cNvPr id="34" name="Text 32"/>
          <p:cNvSpPr/>
          <p:nvPr/>
        </p:nvSpPr>
        <p:spPr>
          <a:xfrm>
            <a:off x="14744088" y="5308458"/>
            <a:ext cx="476617" cy="438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282044" y="5434256"/>
            <a:ext cx="405065" cy="235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Mika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4766735" y="5784055"/>
            <a:ext cx="2179297" cy="347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Breakneck Ridge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4751780" y="6126485"/>
            <a:ext cx="304681" cy="19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700810" y="6143257"/>
            <a:ext cx="231763" cy="359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494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2332940" y="8010525"/>
            <a:ext cx="2366963" cy="5619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40" name="Text 38"/>
          <p:cNvSpPr/>
          <p:nvPr/>
        </p:nvSpPr>
        <p:spPr>
          <a:xfrm>
            <a:off x="12599640" y="8181975"/>
            <a:ext cx="19097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↑ From people you trust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43" name="Text 41"/>
          <p:cNvSpPr/>
          <p:nvPr/>
        </p:nvSpPr>
        <p:spPr>
          <a:xfrm>
            <a:off x="2576513" y="9505950"/>
            <a:ext cx="8001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Network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24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MARKET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$47B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discovery market, mis-served by ads and strangers.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$47B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30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Global local-discovery ad &amp; platform spend across food, travel, events, wellness.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913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913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$8.2B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913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 millennials &amp; Gen Z who actively save, rate, or share going-out recs.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39600" y="4219575"/>
            <a:ext cx="52585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 (YEAR 3)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39600" y="4591050"/>
            <a:ext cx="52585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$240M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2039600" y="5657850"/>
            <a:ext cx="525856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2M active raters across 12 cities at a $10 ARPU / 1.5% take rate blend.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20115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Sources: eMarketer 2025 · Yelp 10-K · U.S. Census · internal model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6" name="Text 14"/>
          <p:cNvSpPr/>
          <p:nvPr/>
        </p:nvSpPr>
        <p:spPr>
          <a:xfrm>
            <a:off x="2576513" y="9505950"/>
            <a:ext cx="6823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24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NOW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4716125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culture is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collapsing.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Trust is moving to networks.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990975"/>
            <a:ext cx="5130701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4371975"/>
            <a:ext cx="4499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24000" y="5229225"/>
            <a:ext cx="44997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Gen Z don't trust Yelp or Google reviews.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4000" y="5657850"/>
            <a:ext cx="44997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Morning Consult,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78501" y="3990975"/>
            <a:ext cx="5130850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9" name="Text 7"/>
          <p:cNvSpPr/>
          <p:nvPr/>
        </p:nvSpPr>
        <p:spPr>
          <a:xfrm>
            <a:off x="6959501" y="4371975"/>
            <a:ext cx="44999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7A8C7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4×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959501" y="5229225"/>
            <a:ext cx="449991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Beli's user growth YoY validates one-tap rating behavior.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59501" y="5972175"/>
            <a:ext cx="44999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TechCrunch,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014150" y="3990975"/>
            <a:ext cx="5130701" cy="2562225"/>
          </a:xfrm>
          <a:prstGeom prst="roundRect">
            <a:avLst>
              <a:gd name="adj" fmla="val 7435"/>
            </a:avLst>
          </a:prstGeom>
          <a:solidFill>
            <a:srgbClr val="F3EDE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95150" y="4371975"/>
            <a:ext cx="44997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494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61%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395150" y="5229225"/>
            <a:ext cx="449976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ask friends first for recs — yet no app captures that loop.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95150" y="5972175"/>
            <a:ext cx="44997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Pew Research,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7162800"/>
            <a:ext cx="28575" cy="400050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00175" y="7162800"/>
            <a:ext cx="137427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550" i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Instagram ate photos. TikTok ate video. Nobody's eaten the rec yet.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0" name="Text 18"/>
          <p:cNvSpPr/>
          <p:nvPr/>
        </p:nvSpPr>
        <p:spPr>
          <a:xfrm>
            <a:off x="2576513" y="9505950"/>
            <a:ext cx="6579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24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Beli — but for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everything.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367088"/>
            <a:ext cx="352038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" name="Shape 3"/>
          <p:cNvSpPr/>
          <p:nvPr/>
        </p:nvSpPr>
        <p:spPr>
          <a:xfrm>
            <a:off x="4663380" y="3367088"/>
            <a:ext cx="2756446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6" name="Text 4"/>
          <p:cNvSpPr/>
          <p:nvPr/>
        </p:nvSpPr>
        <p:spPr>
          <a:xfrm>
            <a:off x="4872930" y="3000375"/>
            <a:ext cx="242003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ONE-TAP RATING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19826" y="3367088"/>
            <a:ext cx="3098453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8" name="Text 6"/>
          <p:cNvSpPr/>
          <p:nvPr/>
        </p:nvSpPr>
        <p:spPr>
          <a:xfrm>
            <a:off x="7629376" y="3000375"/>
            <a:ext cx="277230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FRIEND-FIRST FEED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8279" y="3367088"/>
            <a:ext cx="3522464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0" name="Text 8"/>
          <p:cNvSpPr/>
          <p:nvPr/>
        </p:nvSpPr>
        <p:spPr>
          <a:xfrm>
            <a:off x="10727829" y="3000375"/>
            <a:ext cx="32090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BEYOND RESTAURANTS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040743" y="3367088"/>
            <a:ext cx="3104555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2" name="Text 10"/>
          <p:cNvSpPr/>
          <p:nvPr/>
        </p:nvSpPr>
        <p:spPr>
          <a:xfrm>
            <a:off x="14250293" y="3000375"/>
            <a:ext cx="277859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 HISTORY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422433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3624263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Yelp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663380" y="422433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6" name="Text 14"/>
          <p:cNvSpPr/>
          <p:nvPr/>
        </p:nvSpPr>
        <p:spPr>
          <a:xfrm>
            <a:off x="4872930" y="3624263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19826" y="422433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7629376" y="3624263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518279" y="422433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0" name="Text 18"/>
          <p:cNvSpPr/>
          <p:nvPr/>
        </p:nvSpPr>
        <p:spPr>
          <a:xfrm>
            <a:off x="10727829" y="3624263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Partial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040743" y="422433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2" name="Text 20"/>
          <p:cNvSpPr/>
          <p:nvPr/>
        </p:nvSpPr>
        <p:spPr>
          <a:xfrm>
            <a:off x="14250293" y="3624263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43000" y="508158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4" name="Text 22"/>
          <p:cNvSpPr/>
          <p:nvPr/>
        </p:nvSpPr>
        <p:spPr>
          <a:xfrm>
            <a:off x="1352550" y="448151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Google Maps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663380" y="508158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6" name="Text 24"/>
          <p:cNvSpPr/>
          <p:nvPr/>
        </p:nvSpPr>
        <p:spPr>
          <a:xfrm>
            <a:off x="4872930" y="448151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7419826" y="508158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8" name="Text 26"/>
          <p:cNvSpPr/>
          <p:nvPr/>
        </p:nvSpPr>
        <p:spPr>
          <a:xfrm>
            <a:off x="7629376" y="448151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518279" y="508158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0" name="Text 28"/>
          <p:cNvSpPr/>
          <p:nvPr/>
        </p:nvSpPr>
        <p:spPr>
          <a:xfrm>
            <a:off x="10727829" y="448151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Partial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4040743" y="508158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2" name="Text 30"/>
          <p:cNvSpPr/>
          <p:nvPr/>
        </p:nvSpPr>
        <p:spPr>
          <a:xfrm>
            <a:off x="14250293" y="448151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Saves only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3000" y="593883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4" name="Text 32"/>
          <p:cNvSpPr/>
          <p:nvPr/>
        </p:nvSpPr>
        <p:spPr>
          <a:xfrm>
            <a:off x="1352550" y="533876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Beli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4663380" y="593883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6" name="Text 34"/>
          <p:cNvSpPr/>
          <p:nvPr/>
        </p:nvSpPr>
        <p:spPr>
          <a:xfrm>
            <a:off x="4872930" y="533876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7419826" y="593883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8" name="Text 36"/>
          <p:cNvSpPr/>
          <p:nvPr/>
        </p:nvSpPr>
        <p:spPr>
          <a:xfrm>
            <a:off x="7629376" y="533876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518279" y="593883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0" name="Text 38"/>
          <p:cNvSpPr/>
          <p:nvPr/>
        </p:nvSpPr>
        <p:spPr>
          <a:xfrm>
            <a:off x="10727829" y="533876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 only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4040743" y="593883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2" name="Text 40"/>
          <p:cNvSpPr/>
          <p:nvPr/>
        </p:nvSpPr>
        <p:spPr>
          <a:xfrm>
            <a:off x="14250293" y="533876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 only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143000" y="6796088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4" name="Text 42"/>
          <p:cNvSpPr/>
          <p:nvPr/>
        </p:nvSpPr>
        <p:spPr>
          <a:xfrm>
            <a:off x="1352550" y="619601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Notes / Sheets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4663380" y="6796088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6" name="Text 44"/>
          <p:cNvSpPr/>
          <p:nvPr/>
        </p:nvSpPr>
        <p:spPr>
          <a:xfrm>
            <a:off x="4872930" y="619601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7419826" y="6796088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8" name="Text 46"/>
          <p:cNvSpPr/>
          <p:nvPr/>
        </p:nvSpPr>
        <p:spPr>
          <a:xfrm>
            <a:off x="7629376" y="619601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✕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0518279" y="6796088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0" name="Text 48"/>
          <p:cNvSpPr/>
          <p:nvPr/>
        </p:nvSpPr>
        <p:spPr>
          <a:xfrm>
            <a:off x="10727829" y="619601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14040743" y="6796088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2" name="Text 50"/>
          <p:cNvSpPr/>
          <p:nvPr/>
        </p:nvSpPr>
        <p:spPr>
          <a:xfrm>
            <a:off x="14250293" y="619601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Manual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143000" y="6805613"/>
            <a:ext cx="3520380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" y="7653337"/>
            <a:ext cx="352038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5" name="Text 53"/>
          <p:cNvSpPr/>
          <p:nvPr/>
        </p:nvSpPr>
        <p:spPr>
          <a:xfrm>
            <a:off x="1352550" y="7053262"/>
            <a:ext cx="32068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653A"/>
                </a:solidFill>
                <a:highlight>
                  <a:srgbClr val="C2653A"/>
                </a:highlight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2250" b="1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4663380" y="6805613"/>
            <a:ext cx="2756446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63380" y="7653337"/>
            <a:ext cx="2756446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8" name="Text 56"/>
          <p:cNvSpPr/>
          <p:nvPr/>
        </p:nvSpPr>
        <p:spPr>
          <a:xfrm>
            <a:off x="4872930" y="7053262"/>
            <a:ext cx="24200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7419826" y="6805613"/>
            <a:ext cx="3098453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19826" y="7653337"/>
            <a:ext cx="3098453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1" name="Text 59"/>
          <p:cNvSpPr/>
          <p:nvPr/>
        </p:nvSpPr>
        <p:spPr>
          <a:xfrm>
            <a:off x="7629376" y="7053262"/>
            <a:ext cx="27723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0518279" y="6805613"/>
            <a:ext cx="3522464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518279" y="7653337"/>
            <a:ext cx="3522464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4" name="Text 62"/>
          <p:cNvSpPr/>
          <p:nvPr/>
        </p:nvSpPr>
        <p:spPr>
          <a:xfrm>
            <a:off x="10727829" y="7053262"/>
            <a:ext cx="32090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4040743" y="6805613"/>
            <a:ext cx="3104555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4040743" y="7653337"/>
            <a:ext cx="310455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67" name="Text 65"/>
          <p:cNvSpPr/>
          <p:nvPr/>
        </p:nvSpPr>
        <p:spPr>
          <a:xfrm>
            <a:off x="14250293" y="7053262"/>
            <a:ext cx="27785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8C7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✓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70" name="Text 68"/>
          <p:cNvSpPr/>
          <p:nvPr/>
        </p:nvSpPr>
        <p:spPr>
          <a:xfrm>
            <a:off x="2576513" y="9505950"/>
            <a:ext cx="112231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24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today,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compounding </a:t>
            </a:r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tomorrow.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067175"/>
            <a:ext cx="5156150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95425" y="4495800"/>
            <a:ext cx="4584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 ·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95425" y="4886325"/>
            <a:ext cx="45848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consumer app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95425" y="5448300"/>
            <a:ext cx="45848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Grow the rating graph. No ads. Ever. Density is the moat.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565850" y="4067175"/>
            <a:ext cx="5156150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8275" y="4495800"/>
            <a:ext cx="4584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· YEAR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18275" y="4886325"/>
            <a:ext cx="45848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Vouch+ subscription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18275" y="5448300"/>
            <a:ext cx="45848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$5/mo · trip planning, advanced filters, taste recaps, offline.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988701" y="4067175"/>
            <a:ext cx="5156299" cy="2457450"/>
          </a:xfrm>
          <a:prstGeom prst="roundRect">
            <a:avLst>
              <a:gd name="adj" fmla="val 7752"/>
            </a:avLst>
          </a:prstGeom>
          <a:solidFill>
            <a:srgbClr val="FEFCF9">
              <a:alpha val="60000"/>
            </a:srgbClr>
          </a:solidFill>
          <a:ln w="9525">
            <a:solidFill>
              <a:srgbClr val="FFFFFF">
                <a:alpha val="55000"/>
              </a:srgbClr>
            </a:solidFill>
            <a:prstDash val="solid"/>
          </a:ln>
          <a:effectLst>
            <a:outerShdw sx="100000" sy="100000" kx="0" ky="0" algn="bl" rotWithShape="0" blurRad="152400" dist="19050" dir="5400000">
              <a:srgbClr val="1A1714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1126" y="4495800"/>
            <a:ext cx="45849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 · YEAR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1126" y="4886325"/>
            <a:ext cx="458499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Reservations API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341126" y="5448300"/>
            <a:ext cx="458499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1.5% take on bookings routed through trusted-friend ratings.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43000" y="7134225"/>
            <a:ext cx="16002000" cy="1295400"/>
          </a:xfrm>
          <a:prstGeom prst="roundRect">
            <a:avLst>
              <a:gd name="adj" fmla="val 14706"/>
            </a:avLst>
          </a:prstGeom>
          <a:solidFill>
            <a:srgbClr val="1A1714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591425"/>
            <a:ext cx="45114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Year-3 blended ARPU target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72168" y="7439025"/>
            <a:ext cx="503858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$12 / user / yr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1" name="Text 19"/>
          <p:cNvSpPr/>
          <p:nvPr/>
        </p:nvSpPr>
        <p:spPr>
          <a:xfrm>
            <a:off x="2576513" y="9505950"/>
            <a:ext cx="11785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Monetization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24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-1905000"/>
            <a:ext cx="6667500" cy="6667500"/>
          </a:xfrm>
          <a:prstGeom prst="ellipse">
            <a:avLst/>
          </a:prstGeom>
          <a:solidFill>
            <a:srgbClr val="7A8C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954250" y="6953250"/>
            <a:ext cx="4762500" cy="4762500"/>
          </a:xfrm>
          <a:prstGeom prst="ellipse">
            <a:avLst/>
          </a:prstGeom>
          <a:solidFill>
            <a:srgbClr val="C2653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EARLY SIGNAL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495425"/>
            <a:ext cx="1648206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 months. </a:t>
            </a:r>
            <a:pPr algn="l" indent="0" marL="0">
              <a:lnSpc>
                <a:spcPct val="108000"/>
              </a:lnSpc>
              <a:buNone/>
            </a:pPr>
            <a:r>
              <a:rPr lang="en-US" sz="6900" i="1" spc="-69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One city. </a:t>
            </a:r>
            <a:pPr algn="l" indent="0" marL="0">
              <a:lnSpc>
                <a:spcPct val="108000"/>
              </a:lnSpc>
              <a:buNone/>
            </a:pPr>
            <a:r>
              <a:rPr lang="en-US" sz="6900" spc="-69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Signal everywhere.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1430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i="1" spc="-18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2.4K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1430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raters in NYC beta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2197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41K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52197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experiences rated to date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2964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7A8C7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2964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W4 retention (Beli: ~38%)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73100" y="4143375"/>
            <a:ext cx="3885057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D494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17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13373100" y="5419725"/>
            <a:ext cx="38850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ratings per active user / mo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6505575"/>
            <a:ext cx="7829550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5425" y="6819900"/>
            <a:ext cx="733844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"I used to keep a Google Sheet of every restaurant. This replaced it in a day."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5425" y="7543800"/>
            <a:ext cx="73384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Mika · Brooklyn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15450" y="6505575"/>
            <a:ext cx="7829550" cy="1571625"/>
          </a:xfrm>
          <a:prstGeom prst="roundRect">
            <a:avLst>
              <a:gd name="adj" fmla="val 96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7875" y="6819900"/>
            <a:ext cx="733844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"I've tried five apps like this. This is the only one I opened a second time."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67875" y="7543800"/>
            <a:ext cx="73384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Dante · LA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76513" y="9505950"/>
            <a:ext cx="7762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24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RETENTION CURVES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Curves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flatten </a:t>
            </a:r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— the sign of a habit.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2924175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3976687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75%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5029200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6081713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43000" y="7134225"/>
            <a:ext cx="3963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14500" y="7296150"/>
            <a:ext cx="84518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0" name="Shape 8"/>
          <p:cNvSpPr/>
          <p:nvPr/>
        </p:nvSpPr>
        <p:spPr>
          <a:xfrm>
            <a:off x="1714500" y="2924175"/>
            <a:ext cx="9525" cy="4381500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1" name="Shape 9"/>
          <p:cNvSpPr/>
          <p:nvPr/>
        </p:nvSpPr>
        <p:spPr>
          <a:xfrm>
            <a:off x="1724025" y="2924175"/>
            <a:ext cx="844227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24025" y="4017169"/>
            <a:ext cx="844227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24025" y="5110163"/>
            <a:ext cx="8442275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4" name="Shape 12"/>
          <p:cNvSpPr/>
          <p:nvPr/>
        </p:nvSpPr>
        <p:spPr>
          <a:xfrm>
            <a:off x="1724025" y="6203156"/>
            <a:ext cx="8442275" cy="9525"/>
          </a:xfrm>
          <a:prstGeom prst="rect">
            <a:avLst/>
          </a:prstGeom>
          <a:solidFill>
            <a:srgbClr val="EAE6D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025" y="2924175"/>
            <a:ext cx="8442275" cy="437197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14500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96369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78238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60107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41977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23846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W5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05715" y="7419975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W6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87723" y="7686675"/>
            <a:ext cx="87053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Weeks since signup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699700" y="4029075"/>
            <a:ext cx="266700" cy="28575"/>
          </a:xfrm>
          <a:prstGeom prst="rect">
            <a:avLst/>
          </a:prstGeom>
          <a:solidFill>
            <a:srgbClr val="7A8C72"/>
          </a:solidFill>
          <a:ln/>
        </p:spPr>
      </p:sp>
      <p:sp>
        <p:nvSpPr>
          <p:cNvPr id="25" name="Text 22"/>
          <p:cNvSpPr/>
          <p:nvPr/>
        </p:nvSpPr>
        <p:spPr>
          <a:xfrm>
            <a:off x="11099750" y="3924300"/>
            <a:ext cx="18075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Aug cohort · 62% W6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0699700" y="4400550"/>
            <a:ext cx="266700" cy="28575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27" name="Text 24"/>
          <p:cNvSpPr/>
          <p:nvPr/>
        </p:nvSpPr>
        <p:spPr>
          <a:xfrm>
            <a:off x="11099750" y="4295775"/>
            <a:ext cx="17908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Sep cohort · 58% W4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699700" y="4772025"/>
            <a:ext cx="266700" cy="28575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9" name="Text 26"/>
          <p:cNvSpPr/>
          <p:nvPr/>
        </p:nvSpPr>
        <p:spPr>
          <a:xfrm>
            <a:off x="11099750" y="4667250"/>
            <a:ext cx="178921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Oct cohort · 64% W2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699700" y="5138738"/>
            <a:ext cx="266700" cy="19050"/>
          </a:xfrm>
          <a:prstGeom prst="rect">
            <a:avLst/>
          </a:prstGeom>
          <a:solidFill>
            <a:srgbClr val="8A8480"/>
          </a:solidFill>
          <a:ln/>
        </p:spPr>
      </p:sp>
      <p:sp>
        <p:nvSpPr>
          <p:cNvPr id="31" name="Shape 28"/>
          <p:cNvSpPr/>
          <p:nvPr/>
        </p:nvSpPr>
        <p:spPr>
          <a:xfrm>
            <a:off x="10699700" y="5138738"/>
            <a:ext cx="266700" cy="19050"/>
          </a:xfrm>
          <a:prstGeom prst="rect">
            <a:avLst/>
          </a:prstGeom>
          <a:solidFill>
            <a:srgbClr val="8A8480"/>
          </a:solidFill>
          <a:ln/>
        </p:spPr>
      </p:sp>
      <p:sp>
        <p:nvSpPr>
          <p:cNvPr id="32" name="Text 29"/>
          <p:cNvSpPr/>
          <p:nvPr/>
        </p:nvSpPr>
        <p:spPr>
          <a:xfrm>
            <a:off x="11099750" y="5038725"/>
            <a:ext cx="317423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Consumer-app benchmark (Andreessen)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10699700" y="5600700"/>
            <a:ext cx="6445300" cy="1276350"/>
          </a:xfrm>
          <a:prstGeom prst="roundRect">
            <a:avLst>
              <a:gd name="adj" fmla="val 11940"/>
            </a:avLst>
          </a:prstGeom>
          <a:solidFill>
            <a:srgbClr val="E8EDE5"/>
          </a:solidFill>
          <a:ln/>
        </p:spPr>
      </p:sp>
      <p:sp>
        <p:nvSpPr>
          <p:cNvPr id="34" name="Text 31"/>
          <p:cNvSpPr/>
          <p:nvPr/>
        </p:nvSpPr>
        <p:spPr>
          <a:xfrm>
            <a:off x="10966400" y="5829300"/>
            <a:ext cx="60892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A8C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FLATTENS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0966400" y="6076950"/>
            <a:ext cx="60892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rating compounds the user's personal history. By W4, opening Vouch is faster than opening Notes.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38" name="Text 35"/>
          <p:cNvSpPr/>
          <p:nvPr/>
        </p:nvSpPr>
        <p:spPr>
          <a:xfrm>
            <a:off x="2576513" y="9505950"/>
            <a:ext cx="88701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24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UNIT ECONOMICS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Organic acquisition.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Compounding </a:t>
            </a:r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819525"/>
            <a:ext cx="3829050" cy="2247900"/>
          </a:xfrm>
          <a:prstGeom prst="roundRect">
            <a:avLst>
              <a:gd name="adj" fmla="val 8475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9225" y="4171950"/>
            <a:ext cx="3374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9225" y="4476750"/>
            <a:ext cx="33748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$2.40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19225" y="5200650"/>
            <a:ext cx="33748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Blended NYC beta — driven by friend invites + tastemaker referrals.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00650" y="3819525"/>
            <a:ext cx="3829050" cy="2247900"/>
          </a:xfrm>
          <a:prstGeom prst="roundRect">
            <a:avLst>
              <a:gd name="adj" fmla="val 8475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6875" y="4171950"/>
            <a:ext cx="3374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LTV (Y3)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76875" y="4476750"/>
            <a:ext cx="33748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$36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76875" y="5200650"/>
            <a:ext cx="33748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Blended ARPU × 3yr retention — Vouch+ + reservations take.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58300" y="3819525"/>
            <a:ext cx="3829050" cy="2247900"/>
          </a:xfrm>
          <a:prstGeom prst="roundRect">
            <a:avLst>
              <a:gd name="adj" fmla="val 8475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4525" y="4171950"/>
            <a:ext cx="3374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LTV : CAC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34525" y="4476750"/>
            <a:ext cx="33748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7A8C7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15×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534525" y="5200650"/>
            <a:ext cx="33748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Healthy headroom for paid expansion if needed in years 2–3.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15950" y="3819525"/>
            <a:ext cx="3829050" cy="2247900"/>
          </a:xfrm>
          <a:prstGeom prst="roundRect">
            <a:avLst>
              <a:gd name="adj" fmla="val 8475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92175" y="4171950"/>
            <a:ext cx="3374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592175" y="4476750"/>
            <a:ext cx="337489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 mo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592175" y="5200650"/>
            <a:ext cx="33748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Once Vouch+ launches; pre-monetization the model runs on retention alone.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6677025"/>
            <a:ext cx="7848600" cy="1095375"/>
          </a:xfrm>
          <a:prstGeom prst="roundRect">
            <a:avLst>
              <a:gd name="adj" fmla="val 13913"/>
            </a:avLst>
          </a:prstGeom>
          <a:solidFill>
            <a:srgbClr val="FA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6677025"/>
            <a:ext cx="28575" cy="1095375"/>
          </a:xfrm>
          <a:prstGeom prst="rect">
            <a:avLst/>
          </a:prstGeom>
          <a:solidFill>
            <a:srgbClr val="7A8C72"/>
          </a:solidFill>
          <a:ln/>
        </p:spPr>
      </p:sp>
      <p:sp>
        <p:nvSpPr>
          <p:cNvPr id="22" name="Text 20"/>
          <p:cNvSpPr/>
          <p:nvPr/>
        </p:nvSpPr>
        <p:spPr>
          <a:xfrm>
            <a:off x="1476375" y="6943725"/>
            <a:ext cx="74267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A8C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K-FACTOR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76375" y="7191375"/>
            <a:ext cx="74267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1.4 — every active user invites ~1.4 net new users in their first 30 days.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296400" y="6677025"/>
            <a:ext cx="7848600" cy="1095375"/>
          </a:xfrm>
          <a:prstGeom prst="roundRect">
            <a:avLst>
              <a:gd name="adj" fmla="val 13913"/>
            </a:avLst>
          </a:prstGeom>
          <a:solidFill>
            <a:srgbClr val="FAF7F2"/>
          </a:solidFill>
          <a:ln/>
        </p:spPr>
      </p:sp>
      <p:sp>
        <p:nvSpPr>
          <p:cNvPr id="25" name="Shape 23"/>
          <p:cNvSpPr/>
          <p:nvPr/>
        </p:nvSpPr>
        <p:spPr>
          <a:xfrm>
            <a:off x="9296400" y="6677025"/>
            <a:ext cx="28575" cy="1095375"/>
          </a:xfrm>
          <a:prstGeom prst="rect">
            <a:avLst/>
          </a:prstGeom>
          <a:solidFill>
            <a:srgbClr val="C2653A"/>
          </a:solidFill>
          <a:ln/>
        </p:spPr>
      </p:sp>
      <p:sp>
        <p:nvSpPr>
          <p:cNvPr id="26" name="Text 24"/>
          <p:cNvSpPr/>
          <p:nvPr/>
        </p:nvSpPr>
        <p:spPr>
          <a:xfrm>
            <a:off x="9629775" y="6943725"/>
            <a:ext cx="74267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MARGINAL COST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29775" y="7191375"/>
            <a:ext cx="74267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$0.18 / MAU / month — Mapbox + Postgres + media. Drops at scale.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30" name="Text 28"/>
          <p:cNvSpPr/>
          <p:nvPr/>
        </p:nvSpPr>
        <p:spPr>
          <a:xfrm>
            <a:off x="2576513" y="9505950"/>
            <a:ext cx="9778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Economics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24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GO-TO-MARKET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City by city.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 by friend.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3086100"/>
            <a:ext cx="52846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 — SEED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457575"/>
            <a:ext cx="528462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Tastemakers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43000" y="4095750"/>
            <a:ext cx="528462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Recruit 100 high-volume raters per city — food writers, local creators, scene regulars. Their ratings seed density.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78501" y="3086100"/>
            <a:ext cx="52847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 — SPREAD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78501" y="3457575"/>
            <a:ext cx="528477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Friend invites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78501" y="4095750"/>
            <a:ext cx="5284775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user has a shareable profile. Sending a profile is how you answer "where should we eat?"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014150" y="3086100"/>
            <a:ext cx="52846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 — SATURATE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014150" y="3457575"/>
            <a:ext cx="5284622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spc="-33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Vertical playbooks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014150" y="4095750"/>
            <a:ext cx="528462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Replicate the food playbook for bars, hikes, shows, trips. Each vertical = its own flywheel on the same graph.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8467725"/>
            <a:ext cx="16002000" cy="1057275"/>
          </a:xfrm>
          <a:prstGeom prst="roundRect">
            <a:avLst>
              <a:gd name="adj" fmla="val 18018"/>
            </a:avLst>
          </a:prstGeom>
          <a:solidFill>
            <a:srgbClr val="F3EDE4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8782050"/>
            <a:ext cx="21548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City rollout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3983682" y="8772525"/>
            <a:ext cx="769144" cy="447675"/>
          </a:xfrm>
          <a:prstGeom prst="roundRect">
            <a:avLst>
              <a:gd name="adj" fmla="val 50000"/>
            </a:avLst>
          </a:prstGeom>
          <a:solidFill>
            <a:srgbClr val="C2653A"/>
          </a:solidFill>
          <a:ln/>
        </p:spPr>
      </p:sp>
      <p:sp>
        <p:nvSpPr>
          <p:cNvPr id="16" name="Text 14"/>
          <p:cNvSpPr/>
          <p:nvPr/>
        </p:nvSpPr>
        <p:spPr>
          <a:xfrm>
            <a:off x="4174182" y="8867775"/>
            <a:ext cx="4643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NYC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86176" y="8772525"/>
            <a:ext cx="1088082" cy="447675"/>
          </a:xfrm>
          <a:prstGeom prst="roundRect">
            <a:avLst>
              <a:gd name="adj" fmla="val 50000"/>
            </a:avLst>
          </a:prstGeom>
          <a:solidFill>
            <a:srgbClr val="C26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76676" y="8867775"/>
            <a:ext cx="7832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Chicago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07609" y="8772525"/>
            <a:ext cx="980629" cy="4476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20" name="Text 18"/>
          <p:cNvSpPr/>
          <p:nvPr/>
        </p:nvSpPr>
        <p:spPr>
          <a:xfrm>
            <a:off x="6298109" y="8867775"/>
            <a:ext cx="675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 · Q2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21587" y="8772525"/>
            <a:ext cx="1293465" cy="447675"/>
          </a:xfrm>
          <a:prstGeom prst="roundRect">
            <a:avLst>
              <a:gd name="adj" fmla="val 50000"/>
            </a:avLst>
          </a:prstGeom>
          <a:solidFill>
            <a:srgbClr val="1A1714"/>
          </a:solidFill>
          <a:ln/>
        </p:spPr>
      </p:sp>
      <p:sp>
        <p:nvSpPr>
          <p:cNvPr id="22" name="Text 20"/>
          <p:cNvSpPr/>
          <p:nvPr/>
        </p:nvSpPr>
        <p:spPr>
          <a:xfrm>
            <a:off x="7412087" y="8867775"/>
            <a:ext cx="9886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Austin · Q3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48402" y="8772525"/>
            <a:ext cx="1166961" cy="447675"/>
          </a:xfrm>
          <a:prstGeom prst="roundRect">
            <a:avLst>
              <a:gd name="adj" fmla="val 50000"/>
            </a:avLst>
          </a:prstGeom>
          <a:ln w="9525">
            <a:solidFill>
              <a:srgbClr val="D6CFC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848427" y="8877300"/>
            <a:ext cx="8431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+ 8 by Y2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7" name="Text 25"/>
          <p:cNvSpPr/>
          <p:nvPr/>
        </p:nvSpPr>
        <p:spPr>
          <a:xfrm>
            <a:off x="2576513" y="9505950"/>
            <a:ext cx="4964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GTM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24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3-YEAR PROJECTION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density </a:t>
            </a:r>
            <a:pPr algn="l" indent="0" marL="0">
              <a:lnSpc>
                <a:spcPct val="108000"/>
              </a:lnSpc>
              <a:buNone/>
            </a:pPr>
            <a:r>
              <a:rPr lang="en-US" sz="6000" spc="-6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 </a:t>
            </a:r>
            <a:pPr algn="l" indent="0" marL="0">
              <a:lnSpc>
                <a:spcPct val="108000"/>
              </a:lnSpc>
              <a:buNone/>
            </a:pPr>
            <a:r>
              <a:rPr lang="en-US" sz="6000" i="1" spc="-60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3519488"/>
            <a:ext cx="4480471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" name="Shape 3"/>
          <p:cNvSpPr/>
          <p:nvPr/>
        </p:nvSpPr>
        <p:spPr>
          <a:xfrm>
            <a:off x="5623471" y="3519488"/>
            <a:ext cx="380613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6" name="Text 4"/>
          <p:cNvSpPr/>
          <p:nvPr/>
        </p:nvSpPr>
        <p:spPr>
          <a:xfrm>
            <a:off x="5833021" y="3152775"/>
            <a:ext cx="350121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1 (2026)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429601" y="3519488"/>
            <a:ext cx="3849737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8" name="Text 6"/>
          <p:cNvSpPr/>
          <p:nvPr/>
        </p:nvSpPr>
        <p:spPr>
          <a:xfrm>
            <a:off x="9639151" y="3152775"/>
            <a:ext cx="354612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2 (2027)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279338" y="3519488"/>
            <a:ext cx="3865959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0" name="Text 8"/>
          <p:cNvSpPr/>
          <p:nvPr/>
        </p:nvSpPr>
        <p:spPr>
          <a:xfrm>
            <a:off x="13488888" y="3152775"/>
            <a:ext cx="356283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3 (2028)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43000" y="4376738"/>
            <a:ext cx="4480471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3776662"/>
            <a:ext cx="41957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Active raters (MAU)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5623471" y="4376738"/>
            <a:ext cx="380613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4" name="Text 12"/>
          <p:cNvSpPr/>
          <p:nvPr/>
        </p:nvSpPr>
        <p:spPr>
          <a:xfrm>
            <a:off x="5833021" y="3776662"/>
            <a:ext cx="35012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50K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29601" y="4376738"/>
            <a:ext cx="3849737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6" name="Text 14"/>
          <p:cNvSpPr/>
          <p:nvPr/>
        </p:nvSpPr>
        <p:spPr>
          <a:xfrm>
            <a:off x="9639151" y="3776662"/>
            <a:ext cx="35461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340K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279338" y="4376738"/>
            <a:ext cx="3865959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13488888" y="3776662"/>
            <a:ext cx="3562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1.6M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5233988"/>
            <a:ext cx="4480471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" y="4633913"/>
            <a:ext cx="41957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Cities live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623471" y="5233988"/>
            <a:ext cx="380613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2" name="Text 20"/>
          <p:cNvSpPr/>
          <p:nvPr/>
        </p:nvSpPr>
        <p:spPr>
          <a:xfrm>
            <a:off x="5833021" y="4633913"/>
            <a:ext cx="35012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429601" y="5233988"/>
            <a:ext cx="3849737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4" name="Text 22"/>
          <p:cNvSpPr/>
          <p:nvPr/>
        </p:nvSpPr>
        <p:spPr>
          <a:xfrm>
            <a:off x="9639151" y="4633913"/>
            <a:ext cx="35461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279338" y="5233988"/>
            <a:ext cx="3865959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6" name="Text 24"/>
          <p:cNvSpPr/>
          <p:nvPr/>
        </p:nvSpPr>
        <p:spPr>
          <a:xfrm>
            <a:off x="13488888" y="4633913"/>
            <a:ext cx="3562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43000" y="6091238"/>
            <a:ext cx="4480471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28" name="Text 26"/>
          <p:cNvSpPr/>
          <p:nvPr/>
        </p:nvSpPr>
        <p:spPr>
          <a:xfrm>
            <a:off x="1352550" y="5491163"/>
            <a:ext cx="41957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Ratings in graph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5623471" y="6091238"/>
            <a:ext cx="380613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0" name="Text 28"/>
          <p:cNvSpPr/>
          <p:nvPr/>
        </p:nvSpPr>
        <p:spPr>
          <a:xfrm>
            <a:off x="5833021" y="5491163"/>
            <a:ext cx="35012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2.0M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429601" y="6091238"/>
            <a:ext cx="3849737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2" name="Text 30"/>
          <p:cNvSpPr/>
          <p:nvPr/>
        </p:nvSpPr>
        <p:spPr>
          <a:xfrm>
            <a:off x="9639151" y="5491163"/>
            <a:ext cx="35461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18M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3279338" y="6091238"/>
            <a:ext cx="3865959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4" name="Text 32"/>
          <p:cNvSpPr/>
          <p:nvPr/>
        </p:nvSpPr>
        <p:spPr>
          <a:xfrm>
            <a:off x="13488888" y="5491163"/>
            <a:ext cx="3562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96M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43000" y="6948488"/>
            <a:ext cx="4480471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6" name="Text 34"/>
          <p:cNvSpPr/>
          <p:nvPr/>
        </p:nvSpPr>
        <p:spPr>
          <a:xfrm>
            <a:off x="1352550" y="6348413"/>
            <a:ext cx="41957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Paying (Vouch+ + bookings)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5623471" y="6948488"/>
            <a:ext cx="380613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38" name="Text 36"/>
          <p:cNvSpPr/>
          <p:nvPr/>
        </p:nvSpPr>
        <p:spPr>
          <a:xfrm>
            <a:off x="5833021" y="6348413"/>
            <a:ext cx="35012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—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429601" y="6948488"/>
            <a:ext cx="3849737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0" name="Text 38"/>
          <p:cNvSpPr/>
          <p:nvPr/>
        </p:nvSpPr>
        <p:spPr>
          <a:xfrm>
            <a:off x="9639151" y="6348413"/>
            <a:ext cx="35461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22K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3279338" y="6948488"/>
            <a:ext cx="3865959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2" name="Text 40"/>
          <p:cNvSpPr/>
          <p:nvPr/>
        </p:nvSpPr>
        <p:spPr>
          <a:xfrm>
            <a:off x="13488888" y="6348413"/>
            <a:ext cx="3562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180K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143000" y="6958013"/>
            <a:ext cx="4480471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3000" y="7805738"/>
            <a:ext cx="4480471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5" name="Text 43"/>
          <p:cNvSpPr/>
          <p:nvPr/>
        </p:nvSpPr>
        <p:spPr>
          <a:xfrm>
            <a:off x="1352550" y="7205663"/>
            <a:ext cx="419578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Net revenue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5623471" y="6958013"/>
            <a:ext cx="3806130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3471" y="7805738"/>
            <a:ext cx="3806130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48" name="Text 46"/>
          <p:cNvSpPr/>
          <p:nvPr/>
        </p:nvSpPr>
        <p:spPr>
          <a:xfrm>
            <a:off x="5833021" y="7205663"/>
            <a:ext cx="35012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$0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429601" y="6958013"/>
            <a:ext cx="3849737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29601" y="7805738"/>
            <a:ext cx="3849737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1" name="Text 49"/>
          <p:cNvSpPr/>
          <p:nvPr/>
        </p:nvSpPr>
        <p:spPr>
          <a:xfrm>
            <a:off x="9639151" y="7205663"/>
            <a:ext cx="35461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$1.6M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3279338" y="6958013"/>
            <a:ext cx="3865959" cy="857250"/>
          </a:xfrm>
          <a:prstGeom prst="rect">
            <a:avLst/>
          </a:prstGeom>
          <a:solidFill>
            <a:srgbClr val="C2653A">
              <a:alpha val="6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279338" y="7805738"/>
            <a:ext cx="3865959" cy="9525"/>
          </a:xfrm>
          <a:prstGeom prst="rect">
            <a:avLst/>
          </a:prstGeom>
          <a:solidFill>
            <a:srgbClr val="EAE6DF"/>
          </a:solidFill>
          <a:ln/>
        </p:spPr>
      </p:sp>
      <p:sp>
        <p:nvSpPr>
          <p:cNvPr id="54" name="Text 52"/>
          <p:cNvSpPr/>
          <p:nvPr/>
        </p:nvSpPr>
        <p:spPr>
          <a:xfrm>
            <a:off x="13488888" y="7205663"/>
            <a:ext cx="35628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71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$19M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1143000" y="8201025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Conservative case. Assumes no enterprise / city-tourism revenue (additional upside). Full model in data room.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8" name="Text 56"/>
          <p:cNvSpPr/>
          <p:nvPr/>
        </p:nvSpPr>
        <p:spPr>
          <a:xfrm>
            <a:off x="2576513" y="9505950"/>
            <a:ext cx="91648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Financials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24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a rating app to a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taste graph.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486275"/>
            <a:ext cx="16002000" cy="19050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5" name="Shape 3"/>
          <p:cNvSpPr/>
          <p:nvPr/>
        </p:nvSpPr>
        <p:spPr>
          <a:xfrm>
            <a:off x="1447800" y="4067175"/>
            <a:ext cx="342900" cy="342900"/>
          </a:xfrm>
          <a:prstGeom prst="ellipse">
            <a:avLst/>
          </a:prstGeom>
          <a:solidFill>
            <a:srgbClr val="C2653A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NYC beta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One-tap rating, friend feed, personal history.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05450" y="4067175"/>
            <a:ext cx="342900" cy="342900"/>
          </a:xfrm>
          <a:prstGeom prst="ellipse">
            <a:avLst/>
          </a:prstGeom>
          <a:solidFill>
            <a:srgbClr val="C2653A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065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065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Public launch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0065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Vertical expansion — bars, hikes, shows. 4 cities.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63100" y="4067175"/>
            <a:ext cx="342900" cy="342900"/>
          </a:xfrm>
          <a:prstGeom prst="ellipse">
            <a:avLst/>
          </a:prstGeom>
          <a:solidFill>
            <a:srgbClr val="D6CFC5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830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5830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Vouch+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25830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Trip planning, taste recaps, premium filters.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620750" y="4067175"/>
            <a:ext cx="342900" cy="342900"/>
          </a:xfrm>
          <a:prstGeom prst="ellipse">
            <a:avLst/>
          </a:prstGeom>
          <a:solidFill>
            <a:srgbClr val="D6CFC5"/>
          </a:solidFill>
          <a:ln w="57150">
            <a:solidFill>
              <a:srgbClr val="F3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15950" y="4676775"/>
            <a:ext cx="37477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 2027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15950" y="4972050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spc="-2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Reservations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315950" y="5448300"/>
            <a:ext cx="374770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layer. Revenue on bookings routed through trust.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3" name="Text 21"/>
          <p:cNvSpPr/>
          <p:nvPr/>
        </p:nvSpPr>
        <p:spPr>
          <a:xfrm>
            <a:off x="2576513" y="9505950"/>
            <a:ext cx="9050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Roadmap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24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TEAM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600" spc="-6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Shipped it ourselves. </a:t>
            </a:r>
            <a:pPr algn="l" indent="0" marL="0">
              <a:lnSpc>
                <a:spcPct val="108000"/>
              </a:lnSpc>
              <a:buNone/>
            </a:pPr>
            <a:r>
              <a:rPr lang="en-US" sz="6600" i="1" spc="-6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 today.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067175"/>
            <a:ext cx="5079950" cy="2686050"/>
          </a:xfrm>
          <a:prstGeom prst="roundRect">
            <a:avLst>
              <a:gd name="adj" fmla="val 7092"/>
            </a:avLst>
          </a:prstGeom>
          <a:solidFill>
            <a:srgbClr val="EAE6DF"/>
          </a:solidFill>
          <a:ln w="9525">
            <a:solidFill>
              <a:srgbClr val="D6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6326" y="4076700"/>
            <a:ext cx="5213299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founder headshot ]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7019925"/>
            <a:ext cx="523234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Founder One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7505700"/>
            <a:ext cx="5232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CEO ·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7839075"/>
            <a:ext cx="52323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Previously product at a consumer social app. Columbia CS. Shipped the NYC beta.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03950" y="4067175"/>
            <a:ext cx="5079950" cy="2686050"/>
          </a:xfrm>
          <a:prstGeom prst="roundRect">
            <a:avLst>
              <a:gd name="adj" fmla="val 7092"/>
            </a:avLst>
          </a:prstGeom>
          <a:solidFill>
            <a:srgbClr val="EAE6DF"/>
          </a:solidFill>
          <a:ln w="9525">
            <a:solidFill>
              <a:srgbClr val="D6C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276" y="4076700"/>
            <a:ext cx="5213299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founder headshot 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03950" y="7019925"/>
            <a:ext cx="523234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Founder Two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03950" y="7505700"/>
            <a:ext cx="523234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CTO ·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950" y="7839075"/>
            <a:ext cx="52323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Full-stack, infra, and ML. Built the rating graph + friend feed end-to-end.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64901" y="4067175"/>
            <a:ext cx="5080099" cy="2686050"/>
          </a:xfrm>
          <a:prstGeom prst="roundRect">
            <a:avLst>
              <a:gd name="adj" fmla="val 7092"/>
            </a:avLst>
          </a:prstGeom>
          <a:solidFill>
            <a:srgbClr val="EAE6DF"/>
          </a:solidFill>
          <a:ln w="9525">
            <a:solidFill>
              <a:srgbClr val="D6C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98224" y="4076700"/>
            <a:ext cx="5213452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founder headshot ]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64901" y="7019925"/>
            <a:ext cx="523250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spc="-30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Founder Three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064901" y="7505700"/>
            <a:ext cx="52325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· GTM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64901" y="7839075"/>
            <a:ext cx="52325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Brand + growth. Ran tastemaker recruiting in NYC. Columbia Business.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1" name="Text 19"/>
          <p:cNvSpPr/>
          <p:nvPr/>
        </p:nvSpPr>
        <p:spPr>
          <a:xfrm>
            <a:off x="2576513" y="9505950"/>
            <a:ext cx="5461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24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RISKS &amp; MITIGATIONS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700" spc="-57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We've thought hard about </a:t>
            </a:r>
            <a:pPr algn="l" indent="0" marL="0">
              <a:lnSpc>
                <a:spcPct val="108000"/>
              </a:lnSpc>
              <a:buNone/>
            </a:pPr>
            <a:r>
              <a:rPr lang="en-US" sz="5700" i="1" spc="-57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could go wrong.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629025"/>
            <a:ext cx="7867650" cy="1905000"/>
          </a:xfrm>
          <a:prstGeom prst="roundRect">
            <a:avLst>
              <a:gd name="adj" fmla="val 10000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3943350"/>
            <a:ext cx="73776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· COLD START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95425" y="4229100"/>
            <a:ext cx="737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Empty feed in new cities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95425" y="4629150"/>
            <a:ext cx="73776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Tastemaker recruiting (100 high-volume raters / city) seeds density before public launch. Personal history works solo on day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77350" y="3629025"/>
            <a:ext cx="7867650" cy="1905000"/>
          </a:xfrm>
          <a:prstGeom prst="roundRect">
            <a:avLst>
              <a:gd name="adj" fmla="val 10000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9775" y="3943350"/>
            <a:ext cx="73776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· BELI EXPANDS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29775" y="4229100"/>
            <a:ext cx="737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Incumbent moves laterally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29775" y="4629150"/>
            <a:ext cx="73776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Beli is locked into restaurants by brand and rating UX. Going horizontal would dilute their core. We start horizontal.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5800725"/>
            <a:ext cx="7867650" cy="1905000"/>
          </a:xfrm>
          <a:prstGeom prst="roundRect">
            <a:avLst>
              <a:gd name="adj" fmla="val 10000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5425" y="6115050"/>
            <a:ext cx="73776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· HABIT DECAY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95425" y="6400800"/>
            <a:ext cx="737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Users stop rating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95425" y="6800850"/>
            <a:ext cx="73776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Weekly recaps + friend nudges + back-rating prompts. Cohort curves already flatten at 60%+ — well above benchmark.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277350" y="5800725"/>
            <a:ext cx="7867650" cy="1905000"/>
          </a:xfrm>
          <a:prstGeom prst="roundRect">
            <a:avLst>
              <a:gd name="adj" fmla="val 10000"/>
            </a:avLst>
          </a:prstGeom>
          <a:solidFill>
            <a:srgbClr val="FEFCF9"/>
          </a:solidFill>
          <a:ln w="9525">
            <a:solidFill>
              <a:srgbClr val="EA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9775" y="6115050"/>
            <a:ext cx="73776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C265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· MONETIZATION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29775" y="6400800"/>
            <a:ext cx="737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 don't convert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29775" y="6800850"/>
            <a:ext cx="73776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Reservations API is the bigger lever (1.5% of $80B+ booking flow). Vouch+ is upside, not the base case.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22" name="Text 20"/>
          <p:cNvSpPr/>
          <p:nvPr/>
        </p:nvSpPr>
        <p:spPr>
          <a:xfrm>
            <a:off x="2576513" y="9505950"/>
            <a:ext cx="49098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Risks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24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5500" y="-1905000"/>
            <a:ext cx="6667500" cy="6667500"/>
          </a:xfrm>
          <a:prstGeom prst="ellipse">
            <a:avLst/>
          </a:prstGeom>
          <a:solidFill>
            <a:srgbClr val="C2653A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E8A88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ASK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95425"/>
            <a:ext cx="16482060" cy="200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200" spc="-72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Raising </a:t>
            </a:r>
            <a:pPr algn="l" indent="0" marL="0">
              <a:lnSpc>
                <a:spcPct val="108000"/>
              </a:lnSpc>
              <a:buNone/>
            </a:pPr>
            <a:r>
              <a:rPr lang="en-US" sz="7200" i="1" spc="-72" kern="0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$1.5M </a:t>
            </a:r>
            <a:pPr algn="l" indent="0" marL="0">
              <a:lnSpc>
                <a:spcPct val="108000"/>
              </a:lnSpc>
              <a:buNone/>
            </a:pPr>
            <a:r>
              <a:rPr lang="en-US" sz="7200" spc="-72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seed to saturate 4 cities.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4371975"/>
            <a:ext cx="79663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8A8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4862513"/>
            <a:ext cx="8382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33600" y="4819650"/>
            <a:ext cx="69460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Engineering &amp; product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33600" y="5143500"/>
            <a:ext cx="69460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full-stack hires. Friend feed, Vouch+, recsys v2.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43000" y="5572125"/>
            <a:ext cx="77343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815013"/>
            <a:ext cx="8382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33600" y="5772150"/>
            <a:ext cx="69460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City launches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3600" y="6096000"/>
            <a:ext cx="69460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Tastemaker budgets + launch ops for Chicago, LA, Austin.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6524625"/>
            <a:ext cx="77343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767513"/>
            <a:ext cx="8382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A88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33600" y="6724650"/>
            <a:ext cx="69460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Runway &amp; ops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33600" y="7048500"/>
            <a:ext cx="69460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 months to 50K MAU + Series A metrics.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410700" y="4371975"/>
            <a:ext cx="7734300" cy="4914900"/>
          </a:xfrm>
          <a:prstGeom prst="roundRect">
            <a:avLst>
              <a:gd name="adj" fmla="val 46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7425" y="4838700"/>
            <a:ext cx="70048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8A88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18-MONTH MILESTONES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77425" y="5505450"/>
            <a:ext cx="13675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raters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67893" y="5324475"/>
            <a:ext cx="98658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50K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9877425" y="6076950"/>
            <a:ext cx="68008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77425" y="6496050"/>
            <a:ext cx="1024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Cities live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399966" y="6315075"/>
            <a:ext cx="3545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Shape 22"/>
          <p:cNvSpPr/>
          <p:nvPr/>
        </p:nvSpPr>
        <p:spPr>
          <a:xfrm>
            <a:off x="9877425" y="7067550"/>
            <a:ext cx="68008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877425" y="7486650"/>
            <a:ext cx="17194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Ratings in graph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925502" y="7305675"/>
            <a:ext cx="82897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2M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9877425" y="8058150"/>
            <a:ext cx="68008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877425" y="8477250"/>
            <a:ext cx="14083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6CFC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W4 retention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474851" y="8296275"/>
            <a:ext cx="127962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≥ 55%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AF7F2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576513" y="9505950"/>
            <a:ext cx="3848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24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4820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FAQ FOR THE READ-ALONG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1495425"/>
            <a:ext cx="1648206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spc="-48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questions we get asked </a:t>
            </a:r>
            <a:pPr algn="l" indent="0" marL="0">
              <a:lnSpc>
                <a:spcPct val="108000"/>
              </a:lnSpc>
              <a:buNone/>
            </a:pPr>
            <a:r>
              <a:rPr lang="en-US" sz="4800" i="1" spc="-48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68605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won't Beli win this?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306705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Beli is a restaurant brand. Going horizontal dilutes it. We're horizontal-native, with a graph designed for any vertical.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0700" y="268605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now and not 5 years ago?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410700" y="306705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 trust collapsed in the last 24 months. Gen Z defaulted to friends. Beli proved the format. The window is open.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396240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stops a copycat?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Density. The first city to 50K raters wins it. We're at 2.4K in NYC after 3 months with no paid acquisition.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0700" y="396240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no ads, ever?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410700" y="434340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is the only thing we sell. The moment a sponsored 9 appears, the graph dies. Reservations + subs are aligned with users.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523875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about international?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561975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English-speaking metros first (London, Toronto, Sydney). Year 3+. Vertical density transfers across cities.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10700" y="5238750"/>
            <a:ext cx="7966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does a Series A need?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10700" y="5619750"/>
            <a:ext cx="796632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50K MAU across 4 cities, 55% W4 retention, $1.6M ARR run-rate, two cities with revenue product live. 18 months from now.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9496425"/>
            <a:ext cx="8239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Vouch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119313" y="9620250"/>
            <a:ext cx="228600" cy="9525"/>
          </a:xfrm>
          <a:prstGeom prst="rect">
            <a:avLst/>
          </a:prstGeom>
          <a:solidFill>
            <a:srgbClr val="D6CFC5"/>
          </a:solidFill>
          <a:ln/>
        </p:spPr>
      </p:sp>
      <p:sp>
        <p:nvSpPr>
          <p:cNvPr id="18" name="Text 16"/>
          <p:cNvSpPr/>
          <p:nvPr/>
        </p:nvSpPr>
        <p:spPr>
          <a:xfrm>
            <a:off x="2576513" y="9505950"/>
            <a:ext cx="45065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4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24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0" y="857250"/>
            <a:ext cx="8572500" cy="8572500"/>
          </a:xfrm>
          <a:prstGeom prst="ellipse">
            <a:avLst/>
          </a:prstGeom>
          <a:solidFill>
            <a:srgbClr val="C2653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611493" y="1514475"/>
            <a:ext cx="10648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330" kern="0" dirty="0">
                <a:solidFill>
                  <a:srgbClr val="C265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VOUCH.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981082" y="2133600"/>
            <a:ext cx="14325688" cy="415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0" spc="-375" kern="0" dirty="0">
                <a:solidFill>
                  <a:srgbClr val="1A171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Less mediocre. </a:t>
            </a:r>
            <a:pPr algn="ctr" indent="0" marL="0">
              <a:lnSpc>
                <a:spcPct val="108000"/>
              </a:lnSpc>
              <a:buNone/>
            </a:pPr>
            <a:r>
              <a:rPr lang="en-US" sz="15000" i="1" spc="-375" kern="0" dirty="0">
                <a:solidFill>
                  <a:srgbClr val="C2653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More you.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238625" y="6934200"/>
            <a:ext cx="98107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4A454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best experiences already exist — scattered across memory, notes apps, and group chats. Vouch puts them in one place.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987781" y="8686800"/>
            <a:ext cx="4312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spc="231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hello@vouch.app · vouch.app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376898" y="9534525"/>
            <a:ext cx="84430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A8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24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2026-04-29T00:15:42Z</dcterms:created>
  <dcterms:modified xsi:type="dcterms:W3CDTF">2026-04-29T00:15:42Z</dcterms:modified>
</cp:coreProperties>
</file>